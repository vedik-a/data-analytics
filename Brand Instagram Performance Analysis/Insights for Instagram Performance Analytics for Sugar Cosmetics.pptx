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7BEF-B961-EC06-DDA0-092F05CD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6EC1A-9681-D173-C500-769CFACE3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1950A-8B0C-7888-9D91-D4B3B1FF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7F514-F16C-1EA7-15F4-17ECAB52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EDAD-898F-43C8-2D0E-FB4B234D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6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DD08-8A4D-F652-3AFB-1A2BB416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066AB-7119-3F5B-A299-7686FB44B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0D6FF-40C3-D4A7-BCAF-9A5C28D2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09FC2-0D00-C6CC-981E-6BC3A2D7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31EA1-018E-3A0D-CB96-779ADCB4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58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52CE-2A3D-5B12-4C42-34A874A2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0E855-90AA-2283-923D-18BBFBAC8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A16D8-E9A8-0F07-308A-2724D70F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446B-5D6F-57C7-10CD-575EB22F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5F4B0-335C-E2E1-C677-5D10DDD5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4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2DD6-027D-E75E-F54B-C07A1923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DA57-0381-CDDD-A914-FD700F8D9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497CB-3212-EBF4-11BB-3D9A6C161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A2531-A2A2-B315-3043-78D8D467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CFE38-53F8-9A37-D65D-A0F52510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BA79D-F094-3080-0976-7B7B5321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1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B000-6E5B-861E-BC49-978905A6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731C0-A63E-1C30-F419-4A97F3B29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3BBE1-B5B2-0C8B-18FE-556024B7C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C7471-6C4D-956F-7625-3EA097DEC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DA7A3-822C-8F8F-9D58-66BDBA781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FFC7C-7F90-0200-8B65-DDB5F9D3F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068FD-F535-952C-DECB-FA0D40E0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95ECA-49B1-4B6C-6D21-A942E666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19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78EB-CC08-6C9C-B151-92BE192D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F26EC-DD96-320D-4874-439DD4FC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D979C-68D8-7389-E15D-B47DB2F6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0EFEC-8B57-3EC4-5865-851962C0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69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A5DE8-82F2-6425-458C-808C63C9A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F66CC-A20B-9BF5-6A51-8699528D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2BE6C-71E0-1C06-5D2B-644A3687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03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3278-C182-C950-C625-AE5406A1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7F25-2E16-0F93-EC11-EADD876FA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ED54C-C78F-1901-94ED-01735E9A1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C41C3-88DD-623E-800E-7373E0FF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35BED-10AB-1FF3-8DE3-2C6F2A2C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1351-AE0C-29DB-C886-52AC4458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18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C502-477B-1E42-2EB4-6905BE01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C1A8F4-2AB2-E5E5-E927-B8D8FA8B1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3BF9C-8F48-6C7E-2176-B4AF9F5FE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3462D-E0A4-1AC3-4ED8-28944FF3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1BF92-3031-CC3C-F2CB-23D4AE9C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3FA1E-B4CE-7EB1-579E-441D601C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44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255E-BCA1-601C-894E-8E4077F3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C8EA5-FCC4-156D-FBB6-50DF3646D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8B08C-0D33-C8D5-F016-BFC0783E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F4FBE-41DD-AA25-0035-D4477CD6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7E25-0655-9045-E5B7-4C4DF41D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42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DC57A-5D51-DB22-BC0A-781BAFBFF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CC350-E2AE-1BDC-F9DD-ACABC3DC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428DB-6E50-C495-DF37-D4581174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6AF85-F41B-4E7E-A406-C6D6BFDE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B4278-3996-6DE3-9B57-6DD54E13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B0A28-E2F0-A7A9-E3C4-BA77888C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A982C-27BA-B460-408F-C82D775A6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A4734-3C85-1145-0AE5-55D8C9F68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21749-02D1-46BE-B930-E6DA8206F88E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69059-913C-B763-D405-AB2C4F779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FFFF8-1503-9FDA-6FED-D28394DE1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E2FB7-8EC6-47A8-983E-F525CDB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7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34DC-EC70-5309-8879-732982495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415" y="2027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for Instagram Performance Analytics for Sugar Cosmetics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4CB9E-BF8C-0CBD-7E83-0AC013350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6" y="5336570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57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0D28-C2C6-18A3-2E95-84099269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289"/>
            <a:ext cx="10515600" cy="84227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F094-96F6-061B-0D4F-3EFB9E3DE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2881"/>
            <a:ext cx="10515600" cy="3264081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Sugar Cosmetics achieved </a:t>
            </a:r>
            <a:r>
              <a:rPr lang="en-US" b="1" dirty="0"/>
              <a:t>148M likes</a:t>
            </a:r>
            <a:r>
              <a:rPr lang="en-US" dirty="0"/>
              <a:t>, </a:t>
            </a:r>
            <a:r>
              <a:rPr lang="en-US" b="1" dirty="0"/>
              <a:t>18M comments</a:t>
            </a:r>
            <a:r>
              <a:rPr lang="en-US" dirty="0"/>
              <a:t>, </a:t>
            </a:r>
            <a:r>
              <a:rPr lang="en-US" b="1" dirty="0"/>
              <a:t>987M reach</a:t>
            </a:r>
            <a:r>
              <a:rPr lang="en-US" dirty="0"/>
              <a:t>, and posted </a:t>
            </a:r>
            <a:r>
              <a:rPr lang="en-US" b="1" dirty="0"/>
              <a:t>50K posts</a:t>
            </a:r>
            <a:r>
              <a:rPr lang="en-US" dirty="0"/>
              <a:t> overall. Engagement rate is strong at </a:t>
            </a:r>
            <a:r>
              <a:rPr lang="en-US" b="1" dirty="0"/>
              <a:t>18.5%</a:t>
            </a:r>
            <a:r>
              <a:rPr lang="en-US" dirty="0"/>
              <a:t>, showing high audience interest and consistent brand visibility.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47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268E-32C8-F1DB-40D7-C3967F6D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128" y="117583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Posts Count by Month (Posting Trend)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069B2-3457-ED26-3E80-BE07B67EA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4857"/>
            <a:ext cx="10515600" cy="3132105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Posting frequency fluctuates across months. Months with higher posting volume show </a:t>
            </a:r>
            <a:r>
              <a:rPr lang="en-US" b="1" dirty="0"/>
              <a:t>higher total engagement</a:t>
            </a:r>
            <a:r>
              <a:rPr lang="en-US" dirty="0"/>
              <a:t>, indicating that </a:t>
            </a:r>
            <a:r>
              <a:rPr lang="en-US" b="1" dirty="0"/>
              <a:t>consistent posting leads to better performance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11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FCA1-B2AE-6D6E-0A39-736E75AB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124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Type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C0117-595A-8950-DA8B-1C0DF63F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4601"/>
            <a:ext cx="10515600" cy="3292361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Reels outperform all other formats with the highest engagement (likes, comments, saves). Carousels perform moderately, while Images have the lowest engagement. </a:t>
            </a:r>
            <a:r>
              <a:rPr lang="en-US" b="1" dirty="0"/>
              <a:t>A Reel-first content strategy will maximize performance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55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9B9D7-5A99-C359-3C3B-48C33705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72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Posts by Engagement Rate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EA75-91F4-6A4B-9C12-2BC0D226E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6639"/>
            <a:ext cx="10515600" cy="3490324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High-engagement posts don’t always have the highest reach. They typically feature </a:t>
            </a:r>
            <a:r>
              <a:rPr lang="en-US" b="1" dirty="0"/>
              <a:t>tutorials, relatable content, or influencer collaborations</a:t>
            </a:r>
            <a:r>
              <a:rPr lang="en-US" dirty="0"/>
              <a:t>, which spark deeper interaction. These posts resonate strongly with the audience even with smaller reach.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137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E3AF-BDE9-CD72-B39A-08226DAE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844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by Hashtag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2FCF-FC84-2399-A27F-459625C01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5431"/>
            <a:ext cx="10515600" cy="3141532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Posts using </a:t>
            </a:r>
            <a:r>
              <a:rPr lang="en-US" b="1" dirty="0"/>
              <a:t>3–8 hashtags</a:t>
            </a:r>
            <a:r>
              <a:rPr lang="en-US" dirty="0"/>
              <a:t> deliver the highest engagement. Using too many hashtags reduces relevance, and using too few decreases discoverability. </a:t>
            </a:r>
            <a:r>
              <a:rPr lang="en-US" b="1" dirty="0"/>
              <a:t>Balanced hashtag sets improve performance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46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EC1F-065E-BF67-4E0E-2AE24C33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Funnel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09791-1461-1DA1-91CD-4A8DBC5CB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7273"/>
            <a:ext cx="10515600" cy="3829689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Impressions and Reach are strong, but the biggest drop occurs from </a:t>
            </a:r>
            <a:r>
              <a:rPr lang="en-US" b="1" dirty="0"/>
              <a:t>Reach → Likes</a:t>
            </a:r>
            <a:r>
              <a:rPr lang="en-US" dirty="0"/>
              <a:t>, meaning many viewers are not engaging. Improving </a:t>
            </a:r>
            <a:r>
              <a:rPr lang="en-US" b="1" dirty="0"/>
              <a:t>first-3-second hooks</a:t>
            </a:r>
            <a:r>
              <a:rPr lang="en-US" dirty="0"/>
              <a:t>, thumbnails, captions, and audio can boost conversions (likes, comments, saves).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285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D40C6-3A05-B52C-7D41-79FF33F80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2" y="332943"/>
            <a:ext cx="11403016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4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237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Insights for Instagram Performance Analytics for Sugar Cosmetics</vt:lpstr>
      <vt:lpstr>Overview KPIs</vt:lpstr>
      <vt:lpstr>Posts Count by Month (Posting Trend)</vt:lpstr>
      <vt:lpstr>Post Type Performance</vt:lpstr>
      <vt:lpstr>Top 10 Posts by Engagement Rate</vt:lpstr>
      <vt:lpstr>Engagement by Hashtag Count</vt:lpstr>
      <vt:lpstr>Engagement Funnel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Vedika Gupta</dc:creator>
  <cp:lastModifiedBy>Vedika Gupta</cp:lastModifiedBy>
  <cp:revision>1</cp:revision>
  <dcterms:created xsi:type="dcterms:W3CDTF">2025-11-15T13:36:42Z</dcterms:created>
  <dcterms:modified xsi:type="dcterms:W3CDTF">2025-11-15T13:47:06Z</dcterms:modified>
</cp:coreProperties>
</file>